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e4c325be14a32" /><Relationship Type="http://schemas.openxmlformats.org/officeDocument/2006/relationships/extended-properties" Target="/docProps/app.xml" Id="R928fb03d0f0d4315" /><Relationship Type="http://schemas.openxmlformats.org/officeDocument/2006/relationships/officeDocument" Target="/ppt/presentation.xml" Id="R8cb496288eec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8da08731245a1"/>
  </p:sldMasterIdLst>
  <p:notesMasterIdLst>
    <p:notesMasterId xmlns:r="http://schemas.openxmlformats.org/officeDocument/2006/relationships" r:id="R7fa519a736594640"/>
  </p:notesMasterIdLst>
  <p:sldIdLst>
    <p:sldId xmlns:r="http://schemas.openxmlformats.org/officeDocument/2006/relationships" id="256" r:id="Rf9bf6607e70e4d8c"/>
    <p:sldId xmlns:r="http://schemas.openxmlformats.org/officeDocument/2006/relationships" id="257" r:id="R429b2f5541bb4819"/>
    <p:sldId xmlns:r="http://schemas.openxmlformats.org/officeDocument/2006/relationships" id="258" r:id="Rb0fcb8daec7d4f97"/>
    <p:sldId xmlns:r="http://schemas.openxmlformats.org/officeDocument/2006/relationships" id="259" r:id="Redbd5a6efca344b7"/>
    <p:sldId xmlns:r="http://schemas.openxmlformats.org/officeDocument/2006/relationships" id="260" r:id="Rb65055b5176743e9"/>
    <p:sldId xmlns:r="http://schemas.openxmlformats.org/officeDocument/2006/relationships" id="261" r:id="Reff99a01397643b9"/>
    <p:sldId xmlns:r="http://schemas.openxmlformats.org/officeDocument/2006/relationships" id="262" r:id="Rcd28a8969868470a"/>
    <p:sldId xmlns:r="http://schemas.openxmlformats.org/officeDocument/2006/relationships" id="263" r:id="R092db78e2de84baa"/>
    <p:sldId xmlns:r="http://schemas.openxmlformats.org/officeDocument/2006/relationships" id="264" r:id="Rb54104db30714d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072cc9859a4761" /><Relationship Type="http://schemas.openxmlformats.org/officeDocument/2006/relationships/slideMaster" Target="/ppt/slideMasters/slideMaster1.xml" Id="Ra4c8da08731245a1" /><Relationship Type="http://schemas.openxmlformats.org/officeDocument/2006/relationships/notesMaster" Target="/ppt/notesMasters/notesMaster1.xml" Id="R7fa519a736594640" /><Relationship Type="http://schemas.openxmlformats.org/officeDocument/2006/relationships/presProps" Target="/ppt/presProps.xml" Id="R4d8e41d1969f41aa" /><Relationship Type="http://schemas.openxmlformats.org/officeDocument/2006/relationships/viewProps" Target="/ppt/viewProps.xml" Id="R960b137fe399447a" /><Relationship Type="http://schemas.openxmlformats.org/officeDocument/2006/relationships/tableStyles" Target="/ppt/tableStyles.xml" Id="Rb7065038fc45400d" /><Relationship Type="http://schemas.openxmlformats.org/officeDocument/2006/relationships/slide" Target="/ppt/slides/slide1.xml" Id="Rf9bf6607e70e4d8c" /><Relationship Type="http://schemas.openxmlformats.org/officeDocument/2006/relationships/slide" Target="/ppt/slides/slide2.xml" Id="R429b2f5541bb4819" /><Relationship Type="http://schemas.openxmlformats.org/officeDocument/2006/relationships/slide" Target="/ppt/slides/slide3.xml" Id="Rb0fcb8daec7d4f97" /><Relationship Type="http://schemas.openxmlformats.org/officeDocument/2006/relationships/slide" Target="/ppt/slides/slide4.xml" Id="Redbd5a6efca344b7" /><Relationship Type="http://schemas.openxmlformats.org/officeDocument/2006/relationships/slide" Target="/ppt/slides/slide5.xml" Id="Rb65055b5176743e9" /><Relationship Type="http://schemas.openxmlformats.org/officeDocument/2006/relationships/slide" Target="/ppt/slides/slide6.xml" Id="Reff99a01397643b9" /><Relationship Type="http://schemas.openxmlformats.org/officeDocument/2006/relationships/slide" Target="/ppt/slides/slide7.xml" Id="Rcd28a8969868470a" /><Relationship Type="http://schemas.openxmlformats.org/officeDocument/2006/relationships/slide" Target="/ppt/slides/slide8.xml" Id="R092db78e2de84baa" /><Relationship Type="http://schemas.openxmlformats.org/officeDocument/2006/relationships/slide" Target="/ppt/slides/slide9.xml" Id="Rb54104db30714d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b59d231b2f41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6b44e2d74d4a3b" /><Relationship Type="http://schemas.openxmlformats.org/officeDocument/2006/relationships/notesMaster" Target="/ppt/notesMasters/notesMaster1.xml" Id="R35b8da7b86fc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397f315b3a458d" /><Relationship Type="http://schemas.openxmlformats.org/officeDocument/2006/relationships/notesMaster" Target="/ppt/notesMasters/notesMaster1.xml" Id="R503838305c1047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59dbdabca14c18" /><Relationship Type="http://schemas.openxmlformats.org/officeDocument/2006/relationships/notesMaster" Target="/ppt/notesMasters/notesMaster1.xml" Id="Rceef3f0f311345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e99873ec54c9e" /><Relationship Type="http://schemas.openxmlformats.org/officeDocument/2006/relationships/notesMaster" Target="/ppt/notesMasters/notesMaster1.xml" Id="R10f69aeab33f4c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0993489a8e49eb" /><Relationship Type="http://schemas.openxmlformats.org/officeDocument/2006/relationships/notesMaster" Target="/ppt/notesMasters/notesMaster1.xml" Id="R64bb5b2790dd43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e73db5e9664da1" /><Relationship Type="http://schemas.openxmlformats.org/officeDocument/2006/relationships/notesMaster" Target="/ppt/notesMasters/notesMaster1.xml" Id="Raa921b8bd8c143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27dfb8ba74848" /><Relationship Type="http://schemas.openxmlformats.org/officeDocument/2006/relationships/notesMaster" Target="/ppt/notesMasters/notesMaster1.xml" Id="R8bf81687f2b144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7cc2291f674d81" /><Relationship Type="http://schemas.openxmlformats.org/officeDocument/2006/relationships/notesMaster" Target="/ppt/notesMasters/notesMaster1.xml" Id="R606b113570aa48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34455971d94742" /><Relationship Type="http://schemas.openxmlformats.org/officeDocument/2006/relationships/notesMaster" Target="/ppt/notesMasters/notesMaster1.xml" Id="Ra8c13d246ea4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ec00b4736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fc9a634df147ec" /><Relationship Type="http://schemas.openxmlformats.org/officeDocument/2006/relationships/slideLayout" Target="/ppt/slideLayouts/slideLayout1.xml" Id="R0378a2782e6b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8a2782e6b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e88eb8c2949ee" /><Relationship Type="http://schemas.openxmlformats.org/officeDocument/2006/relationships/notesSlide" Target="/ppt/notesSlides/notesSlide1.xml" Id="Re8a6c74929c4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fd8b08207494b" /><Relationship Type="http://schemas.openxmlformats.org/officeDocument/2006/relationships/notesSlide" Target="/ppt/notesSlides/notesSlide2.xml" Id="R352815c1a41948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61fccb64a4cd1" /><Relationship Type="http://schemas.openxmlformats.org/officeDocument/2006/relationships/image" Target="/ppt/media/image.jpeg" Id="R48a38500f4244261" /><Relationship Type="http://schemas.openxmlformats.org/officeDocument/2006/relationships/notesSlide" Target="/ppt/notesSlides/notesSlide3.xml" Id="R96ef05a6b4ba47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ba2e2f1644693" /><Relationship Type="http://schemas.openxmlformats.org/officeDocument/2006/relationships/image" Target="/ppt/media/image2.jpeg" Id="R9f22f4ed031e4f6b" /><Relationship Type="http://schemas.openxmlformats.org/officeDocument/2006/relationships/notesSlide" Target="/ppt/notesSlides/notesSlide4.xml" Id="R18ba5618009a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27210a8924bc1" /><Relationship Type="http://schemas.openxmlformats.org/officeDocument/2006/relationships/notesSlide" Target="/ppt/notesSlides/notesSlide5.xml" Id="Rae2a5f9552f4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f1f0116f4fea" /><Relationship Type="http://schemas.openxmlformats.org/officeDocument/2006/relationships/notesSlide" Target="/ppt/notesSlides/notesSlide6.xml" Id="Rdca00c5589a64e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0dda9ed5b40b4" /><Relationship Type="http://schemas.openxmlformats.org/officeDocument/2006/relationships/notesSlide" Target="/ppt/notesSlides/notesSlide7.xml" Id="R4373925eaa3b48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ecfd2697f4a30" /><Relationship Type="http://schemas.openxmlformats.org/officeDocument/2006/relationships/image" Target="/ppt/media/image3.jpeg" Id="R39f4d42bb93a46b3" /><Relationship Type="http://schemas.openxmlformats.org/officeDocument/2006/relationships/notesSlide" Target="/ppt/notesSlides/notesSlide8.xml" Id="R9c701d8d355f44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46d389fd84286" /><Relationship Type="http://schemas.openxmlformats.org/officeDocument/2006/relationships/image" Target="/ppt/media/image.png" Id="R0878ea3da1ab4496" /><Relationship Type="http://schemas.openxmlformats.org/officeDocument/2006/relationships/image" Target="/ppt/media/image2.png" Id="R245cad775aae41a5" /><Relationship Type="http://schemas.openxmlformats.org/officeDocument/2006/relationships/image" Target="/ppt/media/image3.png" Id="R5b1b1345d3874ebf" /><Relationship Type="http://schemas.openxmlformats.org/officeDocument/2006/relationships/notesSlide" Target="/ppt/notesSlides/notesSlide9.xml" Id="Rcf8db4b6fa5d45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1B093-9306-4E09-8715-D148E4C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01026-0DE7-4880-8634-F897205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8B39B-4C9D-40C7-A29F-04B91DD4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EDFEB-8E81-4260-AB60-24B2C81B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89E7A-4ADE-432D-BADC-7D9F4F3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CBBF7-F6A6-4D8B-9DBD-99BCDA24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032DA-228C-416A-8F67-12D18635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35D6A-6472-4B9A-B4AF-E4847DD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21A7D-B1E2-4E0B-83DF-E54BD840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F2688-E877-43F3-9BAB-E427AF4C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195F9-FF47-40F0-80FD-CB8C4930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E398F-A8B2-40C4-A7A3-706BDC6E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250AC-2D57-4507-A58E-124D188D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23FD2-A4D7-4965-9AB4-0485E583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2FD26-1F91-4974-8C35-CDD1EBA7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5EF00-FD5E-43AE-9E54-EF41AF5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0F13C-3CB5-49DD-B2A5-21F7E93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B4C7A-63DD-4380-AEA8-194BBB8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543E6-C482-4A7A-BEA0-808CED1E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74D97-505A-457D-86F4-FC001BB2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B984C-F69C-4C9F-A7A6-232C3F03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9DEDE-88F6-46A1-B813-85E7534D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BD338-66C2-4E0B-8A9F-816975CD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66520-AFAD-4875-98D8-3CB78B0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E8709-F298-41F7-B522-1933996B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8FA9A-8862-469E-BB2C-DAE2C31C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9015F-9176-44D8-A6E2-74BB6C62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B3EDAB-CABD-46E7-8843-FB5A5EC4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A887DD-E121-4421-8AB1-DC16745E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7D797-4737-452F-BDFF-0AA1695B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6D062E-A658-4E66-B5B8-02670B4E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530734-C083-4974-B7EC-68CDD5EF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4A6A4D-59CD-43A3-86F4-2F79FF11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F420D1-875D-4D2C-B3C2-F03AD2D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0CF3F-6330-49E0-89F0-4004BA7A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CAW / AI TREASURY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682F85-0351-4AA8-BF9C-83605C4D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CE28B-382E-4A2B-9B23-49F1233B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8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5 MIN PRODUCT 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F04367-39EC-4A87-9F49-A2783423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76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A9FF52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>
                <a:solidFill>
                  <a:srgbClr val="A9FF52"/>
                </a:solidFill>
                <a:latin typeface="PingFang SC"/>
                <a:ea typeface="PingFang SC"/>
                <a:cs typeface="PingFang SC"/>
              </a:rPr>
              <a:t>StableFlow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BCDD15-594F-4076-AB0D-9F744B07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971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普通用户，只管收款与转账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BA5091-CD20-467E-AFBD-6D94C182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6D0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6D0C8"/>
                </a:solidFill>
                <a:latin typeface="PingFang SC"/>
                <a:ea typeface="PingFang SC"/>
                <a:cs typeface="PingFang SC"/>
              </a:rPr>
              <a:t>Agent 自动管理流动性，Pact 控制权限，CAW 负责执行。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DC49A1-1A1B-41AE-8F88-A0263C62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32801D-B1AE-4883-A664-03C5D849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71743A-6989-4C8A-B830-30225C71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FF5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9FF52"/>
                </a:solidFill>
                <a:latin typeface="PingFang SC"/>
                <a:ea typeface="PingFang SC"/>
                <a:cs typeface="PingFang SC"/>
              </a:rPr>
              <a:t>资金决策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0C99F2-DF27-4654-8424-9CBCE624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624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3423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A584E2-19C2-4280-BB2C-4A1A1005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52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PACT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7FDAC6-B536-4899-AA2D-87911E6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72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5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9B5AC"/>
                </a:solidFill>
                <a:latin typeface="PingFang SC"/>
                <a:ea typeface="PingFang SC"/>
                <a:cs typeface="PingFang SC"/>
              </a:rPr>
              <a:t>权限边界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488779-3EB3-4D8B-863A-CE52FBE0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3423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4D50B6-8E37-404F-B4D3-EEBFAED8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CAW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D81867-DC5A-4699-AB45-85566F34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5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9B5AC"/>
                </a:solidFill>
                <a:latin typeface="PingFang SC"/>
                <a:ea typeface="PingFang SC"/>
                <a:cs typeface="PingFang SC"/>
              </a:rPr>
              <a:t>安全执行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884C89-01AC-4757-93B8-101D18D2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3423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B62053-F41F-4DB6-953E-5CED656F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52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AUDIT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F3BD36-9B34-4CE6-A9D5-CBCA480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72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5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9B5AC"/>
                </a:solidFill>
                <a:latin typeface="PingFang SC"/>
                <a:ea typeface="PingFang SC"/>
                <a:cs typeface="PingFang SC"/>
              </a:rPr>
              <a:t>全程解释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E33B35-57C0-4051-A410-63E9865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78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718078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CDDFF1-7A86-4C4F-B6A0-76AE633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68680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9DAD8-F714-4010-BDDC-B52C7332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47436-A333-4BD7-A5C7-A5152AD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4A9C7-27B3-405C-B9ED-49B7E8A8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F8970-C613-48FC-A776-2D789D1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BD923-7C9D-402B-8BF4-6340145B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0E098-9AE9-4F44-8373-D28A2AE8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7F2E9-1D1B-4D85-B98B-9F6FE2B3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36D03-E783-4FA6-A889-7F69CD2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51848-73E1-4E12-8AD2-B17D0D42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F520E-F96D-4835-9A36-468F3F47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CBE98-622A-4AAA-936F-47790B16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0682B-505F-4DF2-9043-6301AD96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3B5C9-224B-45EF-A775-13E088E5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F7D0D-9E1C-41ED-8FFE-7925D24A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2EADB-E270-415D-A64E-B50EBFB2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72F2A-BBF4-4D05-AEB3-7B7F3654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02697-13B6-4ACA-B665-1452A88A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9AB0B-FE0C-40BC-ABD1-4C626478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A52F6-69EB-438A-AC64-3CE56D19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C2771-8F33-4010-9224-1AAAD5D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9C775-2B99-4427-9BC2-68FD76B4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39B15-EE30-411D-8CBA-5DB989CF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CF8E1-EE1B-4456-8B34-600EEEA2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476DC-8B93-4E1F-971A-13D165C6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40DF8-0E5F-4226-A0C9-055F386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AEB24-222E-45BF-82C4-2C64B82C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51E5E-1361-4568-B843-B81509A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069FA-ACB1-4083-8261-CB407320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7B7BB3-94D6-4A1F-9F20-0AD5B51D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92CC81-E954-4763-A7D4-B1C9E617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BDB413-5AC2-427F-B641-60A92E7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23FE9-0C01-4B28-B705-3F5E0E93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01721-BF91-4F62-8C93-2345E403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62FAEF-5492-49AF-869E-3C67C8EC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70545B-6506-44EE-B4DF-CAB417B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02 / STABLEFLOW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C1E8C8-62C1-4CD7-80A4-6F4194C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BACKGROUND + USERS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3FDBBC-1E5A-496C-8D8C-FECB8A68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项目背景与面向人群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7161A-86C6-45A5-AB9C-C9BC8045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为希望简化链上账户管理的普通用户，降低手动管理余额、协议、Gas 与授权的风险。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25972F-686A-4D4D-892F-2B166E1A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BC1129-9A92-4703-A2B4-506C7F1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5238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6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AA45D7-B196-4543-A4D1-90B13A06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D1"/>
          </a:solidFill>
          <a:ln xmlns:a="http://schemas.openxmlformats.org/drawingml/2006/main" w="9525">
            <a:solidFill>
              <a:srgbClr val="8BBE6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96BCE6-13B9-412F-9334-EAFC4FE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WHY NOW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0C4B00-C558-4281-BA85-90268905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资金既要随时可支付，</a:t>
            </a:r>
          </a:p>
          <a:p xmlns:a="http://schemas.openxmlformats.org/drawingml/2006/main">
            <a:pPr algn="l">
              <a:defRPr sz="225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又不应该长期闲置。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F4847F-1E78-421A-80D7-25380D13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4B5855-99CC-4CB4-BB42-C5551A2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71925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余额留少了：转账失败或临时取款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26B935-8B08-4B29-8E70-73A6DA7A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0C5E08-9192-4FC9-9D20-8D2147D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余额留多了：闲置资金失去收益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7F2728-3B11-4D7F-AD8A-0DBDF126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83B771-DE60-48B8-8F87-1CAFD04A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9675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手动操作：合约、Gas、授权容易出错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2850E6-C6FF-42FA-9477-6203894D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5734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0"/>
          </a:solidFill>
          <a:ln xmlns:a="http://schemas.openxmlformats.org/drawingml/2006/main" w="9525">
            <a:solidFill>
              <a:srgbClr val="31413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5D989A-775D-4D9E-835F-B1E66FF5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255AAF-863A-4E01-871E-EF1273C2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WHO IT SERVES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FB4BF4-3D06-4DA5-8E8A-2A9C974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日常用户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E93AC8-ED77-4363-89A6-5097555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DB9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DB9B0"/>
                </a:solidFill>
                <a:latin typeface="PingFang SC"/>
                <a:ea typeface="PingFang SC"/>
                <a:cs typeface="PingFang SC"/>
              </a:rPr>
              <a:t>主要关注收款、转账与可用余额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D94A6F-BD34-4275-BC5A-3495826E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B4E281-EC5F-48C9-9AE7-04CF7E43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链上新用户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FCBF10-F52A-433F-8341-1EA7487D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DB9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DB9B0"/>
                </a:solidFill>
                <a:latin typeface="PingFang SC"/>
                <a:ea typeface="PingFang SC"/>
                <a:cs typeface="PingFang SC"/>
              </a:rPr>
              <a:t>不需要先学会 Aave 与授权细节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AFD28A-2788-4233-BECE-B88D2899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F1E726-1733-4461-8B5E-76EEAD9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重视安全的人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0B4589-FEC7-439B-B20E-F64228E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DB9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DB9B0"/>
                </a:solidFill>
                <a:latin typeface="PingFang SC"/>
                <a:ea typeface="PingFang SC"/>
                <a:cs typeface="PingFang SC"/>
              </a:rPr>
              <a:t>希望自动化仍受明确权限控制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4F1909-E3DB-4604-AC10-200E4338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FF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FF52"/>
                </a:solidFill>
                <a:latin typeface="PingFang SC"/>
                <a:ea typeface="PingFang SC"/>
                <a:cs typeface="PingFang SC"/>
              </a:rPr>
              <a:t>StableFlow 把复杂性留给系统，把最终授权留给用户。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EA9893-BA56-4FEB-B5FF-9E1BD20C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18A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87918A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027447-DEB6-4EAB-B021-8F2D5F1B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37764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EF150F-F4EF-4618-9CC5-3E2E5DCE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15203-3616-448E-8700-4F3E8F2A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03 / STABLEFLOW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1F0E7-4157-49A6-9122-AFE88EFD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DAILY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AB01C-90F2-4923-93EB-9F72BFAE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钱包只保留三个核心动作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D0481-0F29-4E4B-A261-A5797F3B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4B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4BA"/>
                </a:solidFill>
                <a:latin typeface="PingFang SC"/>
                <a:ea typeface="PingFang SC"/>
                <a:cs typeface="PingFang SC"/>
              </a:rPr>
              <a:t>查看余额、收款、受保护转账。复杂的资金配置退到后台。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A756B-4390-4DFB-978A-67456E2A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C4721-7CA4-45A0-9429-4C95742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75057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B"/>
          </a:solidFill>
          <a:ln xmlns:a="http://schemas.openxmlformats.org/drawingml/2006/main" w="9525">
            <a:solidFill>
              <a:srgbClr val="53615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38500f4244261"/>
          <a:srcRect xmlns:a="http://schemas.openxmlformats.org/drawingml/2006/main" l="0" t="4625" r="0" b="4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66950"/>
            <a:ext cx="7277100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9FBCB-02E1-4B79-9D0C-8B3A9284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4290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54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797A6-69E5-478F-92E4-FF94156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C4F35-B2CC-4A83-B124-E4CA3981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USER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3D275-8D32-4230-9512-765C85CD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DEC25-E4A7-41B7-94E0-AC9C6725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24175"/>
            <a:ext cx="2238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查看余额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FC5A2-7520-4609-8D13-68BFE5E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B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EBBB1"/>
                </a:solidFill>
                <a:latin typeface="PingFang SC"/>
                <a:ea typeface="PingFang SC"/>
                <a:cs typeface="PingFang SC"/>
              </a:rPr>
              <a:t>只看当前可用资金。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FF850-F65A-4DC9-8CAF-B5F53D75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576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641A6-0759-4BDD-B9AF-FA05A19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238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收款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FACDB-0157-4BF0-912B-874C95A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432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B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EBBB1"/>
                </a:solidFill>
                <a:latin typeface="PingFang SC"/>
                <a:ea typeface="PingFang SC"/>
                <a:cs typeface="PingFang SC"/>
              </a:rPr>
              <a:t>地址与收款动作优先。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39B3A-72C3-410B-BA93-2580B25C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ADC85-DE62-429B-85E8-AEB163FF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33925"/>
            <a:ext cx="2238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受保护转账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42502-52EB-42E9-BD68-38816FC8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29200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B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EBBB1"/>
                </a:solidFill>
                <a:latin typeface="PingFang SC"/>
                <a:ea typeface="PingFang SC"/>
                <a:cs typeface="PingFang SC"/>
              </a:rPr>
              <a:t>Agent 规划，Pact 决定权限。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40569-0D37-43E5-B8BD-96FB8A2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FF5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9FF52"/>
                </a:solidFill>
                <a:latin typeface="PingFang SC"/>
                <a:ea typeface="PingFang SC"/>
                <a:cs typeface="PingFang SC"/>
              </a:rPr>
              <a:t>DeFi 是后台能力，不是操作负担。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2E90D-AACD-4686-9CF3-1C61BE10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78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718078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D565A-714A-4A3F-9373-36FE51F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03425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E96AE-9572-4621-BB1B-B546CFC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158A3-D6E3-4295-B613-CD50E47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04 / STABLEFLOW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2BACA-781E-400D-BB91-493BDA0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AUTONOMOUS TREASURY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23B84-8A3F-42DF-A13B-CEE49D2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Agent 自动管理闲置资金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CC86E-EC5E-41ED-839A-157ED29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约 1 WBTC 总资金：保留 0.1 WBTC 流动性，其余按策略配置至 Aave。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9DB04-CAE2-40A2-BE6B-809CA51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7A2F9-F569-4C17-A2C7-31BAE8E8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12014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2f4ed031e4f6b"/>
          <a:srcRect xmlns:a="http://schemas.openxmlformats.org/drawingml/2006/main" l="0" t="22471" r="0" b="22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09800"/>
            <a:ext cx="10972800" cy="34385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87818-7E15-43FE-AB2B-10A36AA2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D1"/>
          </a:solidFill>
          <a:ln xmlns:a="http://schemas.openxmlformats.org/drawingml/2006/main" w="9525">
            <a:solidFill>
              <a:srgbClr val="8BBE6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A310C-1BFD-45E6-B767-1252C42A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FA4CF-4789-4AF3-B49F-61648333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D6144-13D5-4522-8AF4-7BA72893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162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保留随时可用资金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31BFE-AC7A-40EA-886E-8F80BD5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9436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D1"/>
          </a:solidFill>
          <a:ln xmlns:a="http://schemas.openxmlformats.org/drawingml/2006/main" w="9525">
            <a:solidFill>
              <a:srgbClr val="8BBE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742C5-B2FD-4D76-B9AA-DEB3C522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0007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158D8-D7B2-4417-821E-2799D18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90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F3201-A9F5-4AE5-A4E0-C2F22CD7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162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计算 0.1 / 0.9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251C4-87A1-467F-B14B-7132C91D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436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D1"/>
          </a:solidFill>
          <a:ln xmlns:a="http://schemas.openxmlformats.org/drawingml/2006/main" w="9525">
            <a:solidFill>
              <a:srgbClr val="8BBE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B854E-092B-4A64-832D-A37C9BF7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007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FEE5E-1F5A-40FB-803D-5364040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0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70530-3F98-45B5-8B8E-C3F95A02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162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限制合约与额度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B9887-2561-41D9-9D6B-A17F6A13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436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D1"/>
          </a:solidFill>
          <a:ln xmlns:a="http://schemas.openxmlformats.org/drawingml/2006/main" w="9525">
            <a:solidFill>
              <a:srgbClr val="8BBE6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E4E72-1A93-43D6-A957-90FC5C13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007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EF693-F340-4B53-AB74-90CA0F48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0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80057-06C9-40BB-B4C8-93C41F8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1626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钱包 + Aave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02B24-0C9A-4A4C-AC87-99DBC0AE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18A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87918A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CBD9C-39D3-4E7E-9129-8CD68EA7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59595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7D19F-633D-463E-81AD-3D97089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F1CD2-8916-4508-919B-4C72931E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D4CDA-E5FA-485F-A217-5F639206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9BFA0-A526-4961-891A-357F4870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9BAE8-1D68-4201-A9FF-45B7785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85689-C077-43EE-AF8C-6268AA6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8D85C-6511-49A3-BA64-D351C55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D8C9E-9EBC-42B4-8E4A-7871EDD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8EC71-663D-4EDA-B05C-9F970539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82513-497B-4FDC-9142-8D83E13A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D8823-4E76-420E-AEAF-EAEA8D3D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E3D3F-748D-4F0B-A90D-F43B3213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CC355-7860-4270-98C1-519C9653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2D633-CAB0-4C22-8138-B97EE053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E42E6-FE07-4ABE-983F-4814A286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04193-CDE0-495F-8DEF-0244C4C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111F2-0C31-44C7-BF22-C5EEF2C5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DBEB8-5AF0-411F-AE39-93ABA2EE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43334-5014-422C-874C-0A9DFC8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751BE-04AD-4623-A467-5BA15879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04583-F6AB-46C6-9559-E781418B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6D03D-8735-4E0D-9210-49B530F0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5FBD7-F78E-4991-9A54-A081A9BB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7FBE7-D737-4EFB-8E18-FA27F4F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E2C31-00FE-4BCE-B9A2-129FED81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9269E-F64E-4981-BF8F-67E1E7D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961A6A-A195-4D79-ADBF-9D597DEA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4C81E-6C23-448D-9257-88D8AE0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37F53-92FA-40C4-BD5F-BEA9884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68AC9-B3FF-4CCE-9F97-AF6CB2E3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D8D89E-3FD8-40A2-BB15-45C34D65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353380-A125-46EE-ACD9-B35EEFBB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C206F4-CEA3-48CF-9F12-F5A26F09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CB6C80-19A1-4C49-8F99-46F9B324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275BF9-93B3-49A0-8317-564C9028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05 / STABLEFLOW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B6454D-0C7B-4D79-B82D-01464EE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TRANSFER / ENOUGH LIQUIDITY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E048C6-495B-4451-949D-4DA8F996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发起转账：钱包流动性充足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B2A6EB-9D7B-40B0-88C2-FF9E9521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当钱包余额能够覆盖转账，Agent 不触碰 Aave，只申请目标地址限定的 Transfer Pact。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D7617C-D2E3-44EA-84D7-38A3E5AF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D0AE72-A238-4CC7-A56A-6B3F8894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A513BE-0E06-48C7-A135-F1EBEFA5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WALLET AVAILABLE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46CBF3-F0FA-4185-9800-E1F242A8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0.10 WBTC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8EC75A-5EB2-413B-9273-D3558FE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当前钱包可用余额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646F12-35ED-44F0-A6BD-AC69183F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717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4C19DF-AC5B-4442-A4F0-6D2EE44B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14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TRANSFER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9056C1-401E-42D2-9E36-1BE912AF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0.02 WBTC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48978A-6FF4-4537-AC4D-82E6FD5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用户发起的转账金额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D331C0-7687-4102-97ED-1A62C272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717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A97C34-1AF5-4763-AF1D-147ED3CA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14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AAVE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B6818E-CF15-4E1C-A894-B5F56216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0.90 WBTC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1F39C-3C6A-496F-9658-C142E6D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保持原仓位，不取款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085A49-6902-4F7F-9BC6-AC1B085B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27FE6F-117E-499B-9FE8-E67A7202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14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AFTER TRANSFER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8CA900-40BF-417C-928F-1BA8AC16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0.08 WBTC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CBB8DB-0B8E-4405-9264-2B5A6076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钱包剩余流动性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0F2A7B-2B23-451A-8776-2CDC1C1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D1"/>
          </a:solidFill>
          <a:ln xmlns:a="http://schemas.openxmlformats.org/drawingml/2006/main" w="9525">
            <a:solidFill>
              <a:srgbClr val="8BBE6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3E4184-C774-4F75-B0CC-51CC617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WALLET ≥ AMOUNT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8CB9DD-FF08-4EBF-9442-2E84AED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A8054A-5E57-469D-A53E-EE34A41F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用户发起转账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9CA714-AC80-49B5-97FD-DD84140E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695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目标地址 + 0.02 WBTC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20EB34-4D60-4059-84BE-93A0F76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7AEAE8-626D-4392-907A-C4148693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005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20A8F4-73B3-41B3-A352-CF2E04F7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F82532-DF8A-4045-9477-B2BB12CE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95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Agent 检查余额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3AE010-BEAA-4E21-93D3-B0D36F7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86275"/>
            <a:ext cx="1695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0.10 ≥ 0.02，流动性足够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BEF17E-9D2F-4BBF-98D3-E9745F0C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D7DB73-F4E5-4E06-B7F8-6B1493B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005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23A300-C4B8-42F0-8ACF-1BE71D64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D9724E-0D85-4E3B-B842-30C77F98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95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提出 Transfer Pact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0C2B60-8B63-4EFA-87C6-5FA72EE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86275"/>
            <a:ext cx="1695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绑定地址、额度、次数与有效期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42DEFF-8249-43EE-9953-04490B4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5F4F78-AE0C-4861-9CCF-1EBCD537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4EC193-484D-449E-A4CF-33DF5AA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55B6F93-36D1-4ED4-ADEB-F136F501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95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CAW 执行转账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EA57CF-574E-433F-9002-616757F6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86275"/>
            <a:ext cx="1695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Aave 仓位保持不变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07F562-DCF2-4669-AD4C-56247910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6B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56B2F"/>
                </a:solidFill>
                <a:latin typeface="PingFang SC"/>
                <a:ea typeface="PingFang SC"/>
                <a:cs typeface="PingFang SC"/>
              </a:rPr>
              <a:t>Agent 的最小动作原则：能直接转账，就不制造额外的 withdraw、Gas 与执行风险。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4D1DF40-4885-4A0E-9B36-3519F028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18A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87918A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4E5D31-1BBD-4369-93A0-1A0C5CA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81574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41CC3-0BE8-4919-88F6-4E766E37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8462C-8401-4131-955E-0999819D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C28FA-26EA-4171-852E-67639AFA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AED85-6EEF-4B9E-8869-5AB8E70C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16E4F-72AD-4FD3-B004-AF6722A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37946-5724-471B-ACF7-443C3877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00FA7-2A9C-4491-B8C1-27F2F1FE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EBEA6-8737-4DB0-9E1C-113F2862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29238-1258-4BFE-AAED-AE5A7E93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D0080-F2FA-4FE3-8E61-144972E6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5FD19-D2F7-407F-9D0B-684D935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C2AD8-4F24-4037-A37C-2D1C3B42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73E2F-D215-4A1B-A461-17D452F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1CD03-B13A-4DFB-824B-1D5CB03F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21647-3AEA-463A-AB7C-BF4B7E84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6456A-CE29-4D17-9958-92749BF1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3EE3E-6E3F-442D-8D1B-75CB4C05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E728A-0B90-4DD3-991C-EA8A17F4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C6955-AA72-460A-8718-A1D4487C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8C098-09FD-4468-8DEC-B19DF404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4F013-D249-4A13-B647-0AC2FCBD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F12A4-7F3D-4429-89FB-76F7F645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871A2-3F9F-43CE-98A3-1E963EEA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47BCC-C903-490F-9CD7-902AD8F6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4D80F3-582F-4B5B-AF11-61827EA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6CDD7-C3D4-44A5-AEF5-6DBE7ED3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612DA7-9F03-4E9E-8106-2382DD00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5E686-5243-45C7-9E36-59CFE0E8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BF9DB-C5E7-4266-92E6-0990444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A3E3D-04F2-4B84-915C-E2A29268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D4B57-2946-436F-A20A-84D22AB9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9EB94-16D3-4E43-8F77-3291313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AC3518-BA86-4F3E-A545-C050B3F3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A7C29B-C107-4DEF-AB61-B267ACD8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A77A3D-4F26-4E67-8E4C-8AE942EB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06 / STABLEFLOW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6E8161-B9DA-42A4-95CA-2CDDAF02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TRANSFER / LOW LIQUIDITY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D6590F-3DF5-4E12-A8CF-7B567458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发起转账：钱包流动性不足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5AB174-9445-4252-93C9-535973EE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4B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4BA"/>
                </a:solidFill>
                <a:latin typeface="PingFang SC"/>
                <a:ea typeface="PingFang SC"/>
                <a:cs typeface="PingFang SC"/>
              </a:rPr>
              <a:t>Agent 从 Aave 取回的不只是余额缺口，还包括转账后的下一段流动性缓冲。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EAF305-4202-416E-B792-BBDE4F39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A600B1-B10C-4601-B233-0F77A0C7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544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D99253-1991-4A86-89C9-EB413858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764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EADA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ADA3"/>
                </a:solidFill>
                <a:latin typeface="Menlo"/>
                <a:ea typeface="Menlo"/>
                <a:cs typeface="Menlo"/>
              </a:rPr>
              <a:t>WALLET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F026BD-92EC-42FB-A1DD-DE36F42F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0.08 WBTC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EABCDF-B886-425A-8DEA-E5BC42F2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rPr>
              <a:t>当前可用余额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2A4EC4-679E-4433-BE6E-204D95C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336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544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33D99D-5378-4B07-A0D3-AE1DF33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764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EADA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ADA3"/>
                </a:solidFill>
                <a:latin typeface="Menlo"/>
                <a:ea typeface="Menlo"/>
                <a:cs typeface="Menlo"/>
              </a:rPr>
              <a:t>TRANSFER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39A3FC-5615-4DE4-98FA-AC92975C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0.15 WBTC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53B1EA-7C83-42B6-B221-B1E1C8A0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146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rPr>
              <a:t>本次转账金额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6D0567-3D0F-461C-B4EC-1D9EC153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5443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A0B803-0858-4EF7-B54B-4E87CAB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764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EADA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ADA3"/>
                </a:solidFill>
                <a:latin typeface="Menlo"/>
                <a:ea typeface="Menlo"/>
                <a:cs typeface="Menlo"/>
              </a:rPr>
              <a:t>TARGET AFTER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936C8F-3D39-4850-B52E-E2C6A1B7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336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0.2055 WBTC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D8980C-9DAA-442F-80A4-D407F2D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146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rPr>
              <a:t>转账后流动性目标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41574A-C3B6-44E6-8A9D-C210BA0E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820E5C-CB45-4ED1-B15C-58A7E38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764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WITHDRAW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8F3DBB-D580-4754-BD44-4EB58F65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0.2755 WBTC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E75B75-A94E-4E51-BBC3-13874756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EADA3"/>
                </a:solidFill>
                <a:latin typeface="PingFang SC"/>
                <a:ea typeface="PingFang SC"/>
                <a:cs typeface="PingFang SC"/>
              </a:rPr>
              <a:t>从 Aave 取回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9C2955-F49B-48BF-988B-7CFD3C12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FBDDED-DF7D-4FAD-BF6D-FD5137F5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384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LOW LIQ.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FAA0D95-FE5A-46BD-81B0-CA6D0477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11201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D4B4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C0F834-581A-40B4-8AC6-B2BE0956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1057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withdraw = transfer + post-transfer target − wallet</a:t>
            </a:r>
          </a:p>
          <a:p xmlns:a="http://schemas.openxmlformats.org/drawingml/2006/main">
            <a:pPr algn="ctr">
              <a:defRPr sz="165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0.2755 = 0.15 + 0.2055 − 0.08 WBTC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FC9799-218C-4D5F-8D2E-93E7806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41504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F922CF-B8F9-404A-B21E-D4D7B36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1. Aave withdraw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6E4FAB-96C4-4BAF-9C89-D594519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962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AB7AE"/>
                </a:solidFill>
                <a:latin typeface="PingFang SC"/>
                <a:ea typeface="PingFang SC"/>
                <a:cs typeface="PingFang SC"/>
              </a:rPr>
              <a:t>复用已批准的 Rebalance Pact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61C8C1-5455-4E7E-949C-654A9D44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00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99D75E-B865-4F55-9FA0-8EA0770F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D5A55D-46C8-4D1A-AEB4-8D191CD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96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25373C-FBAD-4EC3-B9BE-6FC0F08B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43475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2. Transfer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C6B40B-12F5-48DC-B87D-0E4CE39E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10175"/>
            <a:ext cx="1962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使用目标地址限定 Pact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44DE7A-F732-4E75-99D0-629F2E3B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00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C6FF5E-DAE4-47C3-A517-479BF235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244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A2A71A-A12A-4060-BA97-20A64363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96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41504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499897-CE3A-4A7E-A165-FB61E92C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43475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3. 保留缓冲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CB6F4C-0A01-45A8-8963-F02C6922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10175"/>
            <a:ext cx="1962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AB7AE"/>
                </a:solidFill>
                <a:latin typeface="PingFang SC"/>
                <a:ea typeface="PingFang SC"/>
                <a:cs typeface="PingFang SC"/>
              </a:rPr>
              <a:t>转账后钱包约 0.2055 WBTC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A151EE-C207-4463-98E0-AAC3ACC5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00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AA4685-0DF5-4620-9CC9-5FFF7517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2445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B86ABF-E2A9-43A3-A1BE-9F8BCB9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196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4150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0F4DA8-E5E6-4AE4-A789-63FF9FF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434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4. Audit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0D79C0E-ECE9-46B9-AA86-5E637267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10175"/>
            <a:ext cx="1504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AB7AE"/>
                </a:solidFill>
                <a:latin typeface="PingFang SC"/>
                <a:ea typeface="PingFang SC"/>
                <a:cs typeface="PingFang SC"/>
              </a:rPr>
              <a:t>解释取款与转账原因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538169-613B-46D2-B362-AA98717A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78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718078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3BE9515-744C-449A-AC22-4C7A610C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00673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54173F-A437-474E-892B-217AE53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6B5A4-223A-427F-8353-26CEFDC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07 / STABLEFLOW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D5B49-CE02-48F3-BD23-EDA146F1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LIQUIDITY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07927-E083-4379-9418-94D1BD6A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流动性公式：多个安全候选值取最大值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A7130-31F5-42A8-B573-32A71820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LLM 理解意图；确定性 Policy 计算金额边界，结果可复现、可解释、可审计。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9B923-52F7-4D6A-A748-623B2DA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F4356-EBC6-413C-AD89-43200160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11201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0"/>
          </a:solidFill>
          <a:ln xmlns:a="http://schemas.openxmlformats.org/drawingml/2006/main" w="9525">
            <a:solidFill>
              <a:srgbClr val="344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AF3FD-339B-4E7C-A8E3-D8C73392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L = min(Total, max(User Floor, Ratio Floor, Flow Horizon,</a:t>
            </a:r>
          </a:p>
          <a:p xmlns:a="http://schemas.openxmlformats.org/drawingml/2006/main">
            <a:pPr algn="ctr">
              <a:defRPr sz="165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Recurring P90 Buffer, Planned Outflow, Economic Batch))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A7DE6-9B27-4C8A-A2F5-D062866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F67BB-FDDB-49F4-9AE4-D6D36D9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USER FLOOR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158F-6643-4E76-82DD-8889452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0.10 WBTC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48713-7A90-4E93-9CEC-8F37F9B5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用户最低保留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76BB5-D500-4682-9477-F735A5A0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8FBF4-217B-417B-8C5E-C75F9CE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3775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RATIO FLOOR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8E79D-3829-481C-96A7-27B524A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0.10 WBTC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C1BD2-E8EC-4699-813D-07A49E9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总资金 × 最低比例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90482-5CD1-4D47-9F7A-D92572C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2F0EB-800D-4879-853B-CFD5471B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FLOW HORIZON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EA733-A354-4D46-A2E5-3ED392A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0.2055 WBTC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0CEC0-031B-48BD-BD43-DA678208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日均流出 × 覆盖天数 × 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1FF5F-6A26-477D-9058-7B614B15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EFA5C-62BA-4E65-AC96-EF26E943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P90 BUFFER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71DDC-C10C-46A8-9CCB-30696E8F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0.15 WBTC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7956C-47B2-4542-B230-0AE6DE8B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经常性 P90 × 缓冲系数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060E2-D7D6-4733-8807-A51E3975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48200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DAEC6-AD49-48DC-89ED-6240A7D6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91075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PLANNED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DD9E1-FE76-4D6B-A8DD-95BAC77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0.00 WBTC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B71F1-1FDC-44B2-817C-60E3B89D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覆盖期内计划支出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D68E9-40F6-4356-801D-E3C71E1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7235C-44FB-44FE-8CF2-28C589CE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91075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ECONOMIC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A62FF-EF25-41BD-B780-7F12C4B3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4825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0.04 WBTC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2A22CD-2189-4B28-9C91-4FA07F61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Gas、APY 与转账频率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1B7D9-3F4A-4611-9DA6-B5B3827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1120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B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56B2F"/>
                </a:solidFill>
                <a:latin typeface="PingFang SC"/>
                <a:ea typeface="PingFang SC"/>
                <a:cs typeface="PingFang SC"/>
              </a:rPr>
              <a:t>本例最大候选值为 0.2055 WBTC，因此它成为转账后的流动性目标。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81D5A0-A255-4AC8-A79F-E23E9BD1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18A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87918A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9AFD7A-3849-410E-BB67-56E53F8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12982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7272C-76BE-4725-9B75-ED5E067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8A003-BADC-4857-B8EC-DA22BB27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0D7D9-4A86-462E-B875-EA589B3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F8327-5825-40F6-B76B-48C29246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73C63-58AF-426C-82FD-F789BDBC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BF5B0-9642-4F2B-8B34-4F430178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FFFFD-C63D-470A-9D59-67C3ED95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090D6-17E4-449F-B808-94B79B7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2D731-D6B6-4B64-BA0F-DBA919FF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ECE75-A57F-474F-966C-8C21490C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EAA8B-50E5-462F-93F5-7794582F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204D7-20EF-4BF4-A101-76FD6D0B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94840-F10D-4443-8AFC-BE062FDF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6F5E0-86C7-477A-ADCF-3107D1A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01B76-321F-4198-888E-A4E4BD94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C2F76-3776-412A-917F-92613A0F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31E0F-070A-4B22-9817-932E85D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D6655-0F70-46DE-BD68-22BEA83E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E4558-2E8E-496F-B902-F4AEC844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D38EB-5A0F-470A-81B0-91A2AB22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1CED6-7B07-43C3-8854-D2C6346A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C3753-ED44-4485-B727-A6DC0E9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B8ECC-E37C-49FF-B6A5-0C2B5C8E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E584A-E955-4035-BDA3-A416065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93F6D-2358-44DD-8D4F-C66D7F45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273B9A-A60C-454C-8102-0A74BA0C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D7DF0-7D99-4063-AA18-4F40784A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169238-00F0-4D1D-9A1E-B960586A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6CCE4-A36D-42EC-96FF-1C9F173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CD0A8-6B94-431E-918F-9DC55728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C9E0E-2476-470A-9875-8094EDF9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1D91C-A4BD-4C27-A3F7-22FE35D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508138-ACE8-4762-8568-A39239AC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16ED8F-0760-4863-8804-FF30104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B98893-8779-4CEC-8EDD-D8C9982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08 / STABLEFLOW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889518-3225-44D3-B9D7-2675090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PROFILE + MEMORY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48B64C-1B2F-4B45-9887-1FE4E049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Profile 改变策略，不改变权限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7A20DF-AB06-464E-966E-0D03051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28078"/>
                </a:solidFill>
                <a:latin typeface="PingFang SC"/>
                <a:ea typeface="PingFang SC"/>
                <a:cs typeface="PingFang SC"/>
              </a:rPr>
              <a:t>公式持续记录历史、画像、策略和执行参数；用户可用自然语言改变下一次建议。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4910A-F18B-4094-BC0F-36802CF1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1D0B4E-7109-4C08-A426-66E56E1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72580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0"/>
          </a:solidFill>
          <a:ln xmlns:a="http://schemas.openxmlformats.org/drawingml/2006/main" w="9525">
            <a:solidFill>
              <a:srgbClr val="47564D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4d42bb93a46b3"/>
          <a:srcRect xmlns:a="http://schemas.openxmlformats.org/drawingml/2006/main" l="0" t="2624" r="0" b="2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28850"/>
            <a:ext cx="7029450" cy="37909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F5C0E6-6394-42CE-A7CB-BF7FF6CD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36957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9D2C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47A946-9B52-4C4A-8E1C-67FC7588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D1"/>
          </a:solidFill>
          <a:ln xmlns:a="http://schemas.openxmlformats.org/drawingml/2006/main" w="9525">
            <a:solidFill>
              <a:srgbClr val="8BBE6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C3EB7A-26EF-418C-B141-7332BB88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RECORDED INPUTS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31BE39-F599-420A-BDA0-499B94E5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PROFILE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397689-D54B-46EF-AB90-3AE55E74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风险偏好 / 最低保留 / 覆盖天数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345F6F-204F-4ABB-BC67-1DB9081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FB51F5-A165-4CC6-BB88-9867A59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HISTORY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E8F7B-8BD8-4CB9-8767-14E365D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48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转账次数 / 经常性总额 / P90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DE5BA3-DDBA-4EC2-B8E6-4BB7FBA0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6715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7AE790-64DA-4DA8-A66F-7D16DA8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POLICY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7847CF-9B96-4225-A16D-C34D8975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386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最低比例 / 风险系数 / Gas 偏好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2A158A-4B8F-4F10-83A0-D1F46ED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C3AB4D-6F36-42BD-9DD0-F67DFC25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EXECUTION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D19257-29FA-4E42-8736-E15890E7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29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713"/>
                </a:solidFill>
                <a:latin typeface="PingFang SC"/>
                <a:ea typeface="PingFang SC"/>
                <a:cs typeface="PingFang SC"/>
              </a:rPr>
              <a:t>Pact / request ID / 状态 / Audit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DAD483-679F-4D9A-B7AD-BE2FA1E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6B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56B2F"/>
                </a:solidFill>
                <a:latin typeface="PingFang SC"/>
                <a:ea typeface="PingFang SC"/>
                <a:cs typeface="PingFang SC"/>
              </a:rPr>
              <a:t>“至少保留 0.5 WBTC”</a:t>
            </a:r>
          </a:p>
          <a:p xmlns:a="http://schemas.openxmlformats.org/drawingml/2006/main">
            <a:pPr algn="l">
              <a:defRPr sz="1275" b="1">
                <a:solidFill>
                  <a:srgbClr val="356B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56B2F"/>
                </a:solidFill>
                <a:latin typeface="PingFang SC"/>
                <a:ea typeface="PingFang SC"/>
                <a:cs typeface="PingFang SC"/>
              </a:rPr>
              <a:t>会改变建议，但不会自动扩大 Pact。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2FA262-2470-43E2-83D1-9758D76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18A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87918A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130A26-E52A-444A-935C-CC8D2AD6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56B2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56B2F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70536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888C66-8372-4B84-A965-0C8C250E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36C4A-9027-464D-B389-DBE18405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A24C0-30AF-4B50-8810-2D2038C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89709-9EFB-46F2-B7FC-7712E0F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BA927-095B-47D7-9349-5344F2C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DD7CB-B315-4F84-B68A-BE85A065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19D95-FABA-4673-8C2E-15048F15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77A33-983A-4B49-B068-F140C5DB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F11AB-1F5B-454C-8554-A57FE455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BA3F1-0D82-4E3C-AC3B-D39DB146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5E3DA-A1E7-4AEE-A100-DBE4EA5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479B2-0ADF-43A2-99A3-CD017DE0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68E5F-D992-499C-9A43-D13BF250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5C3F-2835-4C75-B13E-D8934C5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9B8E1-29C9-4EEF-87E1-27F6B52F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F3A5A-60E3-4E84-976E-83C73F12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08D90-F4D0-4D52-B43E-087ECEF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06F20-096B-405A-B62C-53060F14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B3BC3-0CFE-47CA-BBD6-02DCC86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917DD-639E-4EA2-8594-BFB1C4D8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430D9-E060-4CD2-8C3D-79C70580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23EFC-E155-4F91-AFF9-DEF4DCA1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113D2-62E2-4A46-A751-5F9E4963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E30D1-91A5-4822-BBCB-74CE163F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16F31-2957-430A-8022-5996097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7E15E-67AA-47AF-955D-71953306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969011-5938-469F-84AB-60B6734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A4309C-AA6F-4417-8380-B2A666C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DED83-925E-440A-8181-8C6E36E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E96076-9C38-418D-9406-050F8707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68A5FF-AD04-4D47-A2C0-4C1B8269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8FEA10-CF60-4D78-8BB1-C576664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230539-A6A8-4654-BD23-9BAF1303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99614C-B1DE-4F6A-BDC5-F98B246E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F852DD-2FE3-4E3D-BD31-AF19AA77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09 / STABLEFLOW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21D494-1DA6-467C-8320-AE2BFF5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SAFETY +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32423-9768-4EBC-9FB8-FD3CEC2F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BFC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BFCF8"/>
                </a:solidFill>
                <a:latin typeface="PingFang SC"/>
                <a:ea typeface="PingFang SC"/>
                <a:cs typeface="PingFang SC"/>
              </a:rPr>
              <a:t>用户授权边界内的自动化，才值得信任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1BC798-5441-4B78-A8FB-304C1A41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4B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4BA"/>
                </a:solidFill>
                <a:latin typeface="PingFang SC"/>
                <a:ea typeface="PingFang SC"/>
                <a:cs typeface="PingFang SC"/>
              </a:rPr>
              <a:t>产品流程由 Pact 约束；右侧为此前已验证的 Sepolia Pact 与合约调用记录。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8BD6DB-FE3D-4E67-BD92-B4394E4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B5BB51-4C7F-4DC4-B102-29DACB7C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44577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17"/>
          </a:solidFill>
          <a:ln xmlns:a="http://schemas.openxmlformats.org/drawingml/2006/main" w="9525">
            <a:solidFill>
              <a:srgbClr val="39483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1041CF-F15C-4B4B-9A6E-1E67697D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FF52"/>
          </a:solidFill>
          <a:ln xmlns:a="http://schemas.openxmlformats.org/drawingml/2006/main" w="9525">
            <a:solidFill>
              <a:srgbClr val="A9FF5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44C317-B8B7-4AC3-BDD3-A6FA76A4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CONTROL LOOP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E860B9-890B-4CA7-9076-DA531A2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46D86-B403-4693-9F50-0184D2E7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AGENT PROPOSES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BFC06F-2043-4DDF-BAF3-EB9F1CD1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9562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rPr>
              <a:t>生成策略与 Pact Proposal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BDC9EE-1E43-4ACF-8B36-A74BAA9B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C2868E-8422-4306-A7F4-CC3E034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OWNER APPROVES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D63207-BD47-4090-8618-62CA2B3A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rPr>
              <a:t>用户在 CAW App 审批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E8EEA2-02AE-4D46-B897-D64AC0A9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C4A25B-FBDA-4789-97C8-5946DAF5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CAW EXECUTES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86A8A0-D104-46E1-BA15-E14A1855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rPr>
              <a:t>仅在白名单与额度内执行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8E41D7-26BE-4B8F-9753-A9770A47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1197D2-D77E-4717-9DDA-190F5F58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244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BFCF8"/>
                </a:solidFill>
                <a:latin typeface="Menlo"/>
                <a:ea typeface="Menlo"/>
                <a:cs typeface="Menlo"/>
              </a:rPr>
              <a:t>AUDIT EXPLAINS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698AF4-1D6D-498D-B29F-DD0C2584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7AE"/>
                </a:solidFill>
                <a:latin typeface="PingFang SC"/>
                <a:ea typeface="PingFang SC"/>
                <a:cs typeface="PingFang SC"/>
              </a:rPr>
              <a:t>记录原因、授权与结果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A91127-573A-40D0-A822-FE2A3029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14550"/>
            <a:ext cx="19431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53615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DD6653-DADA-4F82-95F2-7617EA68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PACT ALLOWLIST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2F0E30-5768-4BB4-9677-EF1556C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19431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53615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BD3638-1692-4C9D-A98B-182CA2BE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WBTC APPROVE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E0D090-7B56-4AB2-AA72-FB889585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19431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19050">
            <a:solidFill>
              <a:srgbClr val="A9FF5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5F09FF-5A1B-4B9D-907E-FF0AE58E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66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71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01713"/>
                </a:solidFill>
                <a:latin typeface="Menlo"/>
                <a:ea typeface="Menlo"/>
                <a:cs typeface="Menlo"/>
              </a:rPr>
              <a:t>AAVE SUPPLY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5A16D8-E9AC-4052-B0F7-F61D74CE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172200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DABA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DABA1"/>
                </a:solidFill>
                <a:latin typeface="PingFang SC"/>
                <a:ea typeface="PingFang SC"/>
                <a:cs typeface="PingFang SC"/>
              </a:rPr>
              <a:t>历史测试网证据：Pact 生效 → WBTC approve → Aave contract call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3F57CD-7BD0-446A-8209-8D81EC37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78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718078"/>
                </a:solidFill>
                <a:latin typeface="Menlo"/>
                <a:ea typeface="Menlo"/>
                <a:cs typeface="Menlo"/>
              </a:rPr>
              <a:t>AGENT DECIDES · PACT CONSTRAINS · CAW EXECUTES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665EF6-1776-4950-9326-82F49262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FF52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FF52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8ea3da1ab4496"/>
          <a:srcRect xmlns:a="http://schemas.openxmlformats.org/drawingml/2006/main" l="0" t="5588" r="0" b="5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2571750"/>
            <a:ext cx="1714500" cy="329565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cad775aae41a5"/>
          <a:srcRect xmlns:a="http://schemas.openxmlformats.org/drawingml/2006/main" l="0" t="5588" r="0" b="5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2571750"/>
            <a:ext cx="1714500" cy="3295650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b1345d3874ebf"/>
          <a:srcRect xmlns:a="http://schemas.openxmlformats.org/drawingml/2006/main" l="0" t="5588" r="0" b="5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9300" y="2571750"/>
            <a:ext cx="1714500" cy="3295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99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2026-06-14T07:54:25.0000000Z</dcterms:created>
  <dcterms:modified xsi:type="dcterms:W3CDTF">2026-06-14T07:54:25.0000000Z</dcterms:modified>
</coreProperties>
</file>